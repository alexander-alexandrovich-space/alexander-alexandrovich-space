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0"/>
  </p:notesMasterIdLst>
  <p:sldIdLst>
    <p:sldId id="258" r:id="rId2"/>
    <p:sldId id="261" r:id="rId3"/>
    <p:sldId id="275" r:id="rId4"/>
    <p:sldId id="259" r:id="rId5"/>
    <p:sldId id="276" r:id="rId6"/>
    <p:sldId id="274" r:id="rId7"/>
    <p:sldId id="271" r:id="rId8"/>
    <p:sldId id="267" r:id="rId9"/>
  </p:sldIdLst>
  <p:sldSz cx="12192000" cy="6858000"/>
  <p:notesSz cx="6858000" cy="9144000"/>
  <p:embeddedFontLst>
    <p:embeddedFont>
      <p:font typeface="Bahnschrift" panose="020B0502040204020203" pitchFamily="34" charset="0"/>
      <p:regular r:id="rId11"/>
      <p:bold r:id="rId12"/>
    </p:embeddedFont>
    <p:embeddedFont>
      <p:font typeface="Cambria Math" panose="02040503050406030204" pitchFamily="18" charset="0"/>
      <p:regular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7D83DCE-0D6E-4078-BE04-1CA954DE091A}">
          <p14:sldIdLst>
            <p14:sldId id="258"/>
            <p14:sldId id="261"/>
            <p14:sldId id="275"/>
          </p14:sldIdLst>
        </p14:section>
        <p14:section name="Раздел без заголовка" id="{BEA681AD-697B-4BC3-B605-CA1AAC7EA83A}">
          <p14:sldIdLst>
            <p14:sldId id="259"/>
            <p14:sldId id="276"/>
            <p14:sldId id="274"/>
            <p14:sldId id="271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6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174" autoAdjust="0"/>
    <p:restoredTop sz="94660"/>
  </p:normalViewPr>
  <p:slideViewPr>
    <p:cSldViewPr snapToGrid="0">
      <p:cViewPr>
        <p:scale>
          <a:sx n="103" d="100"/>
          <a:sy n="103" d="100"/>
        </p:scale>
        <p:origin x="1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7EFF5-45D7-44FE-BFF5-61A3E06B4245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0BF0-9B09-41AD-B180-93AF1CAF98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05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и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DE740D8D-FBE9-45AD-95F5-A12BE687B0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500"/>
          <a:stretch/>
        </p:blipFill>
        <p:spPr>
          <a:xfrm>
            <a:off x="0" y="1633219"/>
            <a:ext cx="7619998" cy="2366945"/>
          </a:xfrm>
          <a:prstGeom prst="rect">
            <a:avLst/>
          </a:prstGeom>
        </p:spPr>
      </p:pic>
      <p:sp>
        <p:nvSpPr>
          <p:cNvPr id="13" name="Текст 12">
            <a:extLst>
              <a:ext uri="{FF2B5EF4-FFF2-40B4-BE49-F238E27FC236}">
                <a16:creationId xmlns:a16="http://schemas.microsoft.com/office/drawing/2014/main" id="{C21F1BD2-5558-4E07-B786-DF4B7CBE7B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099" y="1719740"/>
            <a:ext cx="5400000" cy="111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ПРИВЕТСТВУЕМ, ФИНАЛИСТ!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B76E3C-07A4-4AED-929B-0114068E6F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37" y="16885"/>
            <a:ext cx="2286001" cy="142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5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Белый слайд_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EF2B7133-3798-48BD-9554-C21FA6E8C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328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2BBED-4AE2-450E-9014-CCF0A18CBFAA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F3D2B62-61A1-40A3-A256-8D3F1E546B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8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Белый слайд_колонка и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EF2B7133-3798-48BD-9554-C21FA6E8C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3A2AB07C-6B49-4477-85E9-64DB38E529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03712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AE8EC66D-135E-407B-8726-88413FBEA8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19824" y="1220788"/>
            <a:ext cx="5452412" cy="5035550"/>
          </a:xfrm>
          <a:prstGeom prst="rect">
            <a:avLst/>
          </a:prstGeom>
        </p:spPr>
        <p:txBody>
          <a:bodyPr anchor="b" anchorCtr="1"/>
          <a:lstStyle>
            <a:lvl1pPr marL="0" indent="0">
              <a:buNone/>
              <a:defRPr sz="1400"/>
            </a:lvl1pPr>
          </a:lstStyle>
          <a:p>
            <a:endParaRPr lang="ru-RU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2DD92DB-AF5C-4B09-96BC-77D146B99B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25CC6C-2D64-425E-BDF2-A1B5E6A13F4E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01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Белый слайд_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02744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1F0C8795-E30C-4D85-999B-17BE4CC8F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168" y="1221483"/>
            <a:ext cx="5455067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5D38CA2B-AF0F-45BA-9AB2-E2E58BB989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887" y="1702744"/>
            <a:ext cx="5454347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94395CBE-E917-48A2-8399-D968DFAD73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EF542E-5E62-4900-8DFB-C4A3F318FC2D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5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Белый слайд_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C6693F5D-1E86-4510-88C2-00B18EC738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96000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6B087493-B8E8-40C9-A124-9D30A067F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D96285C0-80DE-46E7-9A9A-BE488E924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2238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392BD8BF-72E9-4428-97DD-B1885252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2957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8" name="Picture 8">
            <a:extLst>
              <a:ext uri="{FF2B5EF4-FFF2-40B4-BE49-F238E27FC236}">
                <a16:creationId xmlns:a16="http://schemas.microsoft.com/office/drawing/2014/main" id="{35BB0F49-4C73-4AEA-A501-2E32124E21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FA6905-FD12-4A67-89C2-2B30002EF613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18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иний слайд_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254AC82E-E44A-4E49-B7AD-416EBFFEE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C1AD932-0DF2-4F9D-B801-D1B14D192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486399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5C78546-CAC3-4CA8-B85B-9B769BE6DE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3B7B12-85A2-41DD-A990-A5964AEF276F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48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иний слайд_колонка и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254AC82E-E44A-4E49-B7AD-416EBFFEE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C1AD932-0DF2-4F9D-B801-D1B14D192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486399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F8C805C-DE97-4647-A33D-C4657135DA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114" y="1720338"/>
            <a:ext cx="5486399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1" name="Рисунок 18">
            <a:extLst>
              <a:ext uri="{FF2B5EF4-FFF2-40B4-BE49-F238E27FC236}">
                <a16:creationId xmlns:a16="http://schemas.microsoft.com/office/drawing/2014/main" id="{4B34B038-383A-47AE-B598-3853C94033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8668" y="1220788"/>
            <a:ext cx="5486399" cy="5035550"/>
          </a:xfrm>
          <a:prstGeom prst="rect">
            <a:avLst/>
          </a:prstGeom>
        </p:spPr>
        <p:txBody>
          <a:bodyPr anchor="b" anchorCtr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31B65-F902-4E9C-8C36-FAA17D199D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992ED4-D7B8-4763-BB4E-9F6FDDF4CC23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1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иний слайд_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21994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1F0C8795-E30C-4D85-999B-17BE4CC8F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169" y="1221483"/>
            <a:ext cx="5454348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5D38CA2B-AF0F-45BA-9AB2-E2E58BB989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888" y="1721994"/>
            <a:ext cx="5454348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CA6F7E49-A566-4481-9C88-0010F1F83F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15162D-14CE-4563-8774-13F802CBAFCB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0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иний слайд_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483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C6693F5D-1E86-4510-88C2-00B18EC738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96000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6B087493-B8E8-40C9-A124-9D30A067F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D96285C0-80DE-46E7-9A9A-BE488E924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0798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392BD8BF-72E9-4428-97DD-B1885252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1517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21" name="Picture 8">
            <a:extLst>
              <a:ext uri="{FF2B5EF4-FFF2-40B4-BE49-F238E27FC236}">
                <a16:creationId xmlns:a16="http://schemas.microsoft.com/office/drawing/2014/main" id="{6BD9029C-5108-4AF3-A1F7-8AFE00FB10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F9D558F-4713-4605-B399-464201D0AF4C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572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следня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670" y="194284"/>
            <a:ext cx="2510355" cy="655413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D767B035-C8ED-4A9E-A741-B4070FCDB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3074"/>
          <a:stretch/>
        </p:blipFill>
        <p:spPr>
          <a:xfrm flipH="1">
            <a:off x="5251615" y="1633219"/>
            <a:ext cx="6940385" cy="2366945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1330683F-E6D0-49BA-AB32-DED060A409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35050" y="1886351"/>
            <a:ext cx="4819739" cy="112635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БЛАГОДАРЮ ЗА ВНИМАНИЕ!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512F792B-3E91-42A3-8404-10DD04803E5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3836" y="217610"/>
            <a:ext cx="1275668" cy="632087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0300DD6F-90C7-4CDA-B2F2-3D29AD82C0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546" y="1633537"/>
            <a:ext cx="4948874" cy="540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Тема проекта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EE558EE7-AF15-450A-8CDC-710453B2B5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546" y="2258343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id="{4DCF5854-D059-4195-8E07-023DE04A76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5546" y="3276599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Город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id="{E83AD61D-A7B2-49FF-BC57-1DD602EBD2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5546" y="2647950"/>
            <a:ext cx="4948874" cy="540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Наименование вуза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id="{73F01592-11C6-48BE-BEBA-C517FF7F46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546" y="3670049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Email: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4524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61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7" r:id="rId2"/>
    <p:sldLayoutId id="2147483649" r:id="rId3"/>
    <p:sldLayoutId id="2147483653" r:id="rId4"/>
    <p:sldLayoutId id="2147483654" r:id="rId5"/>
    <p:sldLayoutId id="2147483658" r:id="rId6"/>
    <p:sldLayoutId id="2147483650" r:id="rId7"/>
    <p:sldLayoutId id="2147483655" r:id="rId8"/>
    <p:sldLayoutId id="2147483656" r:id="rId9"/>
    <p:sldLayoutId id="2147483652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A842140-27D8-B31C-2382-390A79667DB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 bwMode="auto">
          <a:xfrm>
            <a:off x="0" y="0"/>
            <a:ext cx="12192000" cy="6858000"/>
          </a:xfrm>
          <a:prstGeom prst="flowChartProcess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Текст 11">
            <a:extLst>
              <a:ext uri="{FF2B5EF4-FFF2-40B4-BE49-F238E27FC236}">
                <a16:creationId xmlns:a16="http://schemas.microsoft.com/office/drawing/2014/main" id="{4AFC1B50-376C-1248-ABF2-37AF10E70B4B}"/>
              </a:ext>
            </a:extLst>
          </p:cNvPr>
          <p:cNvSpPr txBox="1">
            <a:spLocks/>
          </p:cNvSpPr>
          <p:nvPr/>
        </p:nvSpPr>
        <p:spPr>
          <a:xfrm>
            <a:off x="835546" y="1009153"/>
            <a:ext cx="7878963" cy="1865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sz="4000" dirty="0">
                <a:solidFill>
                  <a:schemeClr val="bg1"/>
                </a:solidFill>
                <a:latin typeface="Bahnschrift" panose="020B0502040204020203" pitchFamily="34" charset="0"/>
              </a:rPr>
              <a:t>Development of an inter-satellite network for space debris evasion</a:t>
            </a:r>
          </a:p>
        </p:txBody>
      </p:sp>
      <p:sp>
        <p:nvSpPr>
          <p:cNvPr id="10" name="Текст 17">
            <a:extLst>
              <a:ext uri="{FF2B5EF4-FFF2-40B4-BE49-F238E27FC236}">
                <a16:creationId xmlns:a16="http://schemas.microsoft.com/office/drawing/2014/main" id="{4E64B109-A427-A941-9FFA-E698FB468715}"/>
              </a:ext>
            </a:extLst>
          </p:cNvPr>
          <p:cNvSpPr txBox="1">
            <a:spLocks/>
          </p:cNvSpPr>
          <p:nvPr/>
        </p:nvSpPr>
        <p:spPr>
          <a:xfrm>
            <a:off x="835546" y="4685151"/>
            <a:ext cx="5130914" cy="36211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Alexander Popov</a:t>
            </a:r>
            <a:endParaRPr lang="ru-RU" sz="2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Текст 19">
            <a:extLst>
              <a:ext uri="{FF2B5EF4-FFF2-40B4-BE49-F238E27FC236}">
                <a16:creationId xmlns:a16="http://schemas.microsoft.com/office/drawing/2014/main" id="{5963EF2C-BACE-9845-AE78-7387972EB0B4}"/>
              </a:ext>
            </a:extLst>
          </p:cNvPr>
          <p:cNvSpPr txBox="1">
            <a:spLocks/>
          </p:cNvSpPr>
          <p:nvPr/>
        </p:nvSpPr>
        <p:spPr>
          <a:xfrm>
            <a:off x="835546" y="5326175"/>
            <a:ext cx="6022454" cy="5226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Peter the Great St. Petersburg Polytechnic University </a:t>
            </a:r>
            <a:endParaRPr lang="ru-RU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10" descr="Picture background">
            <a:extLst>
              <a:ext uri="{FF2B5EF4-FFF2-40B4-BE49-F238E27FC236}">
                <a16:creationId xmlns:a16="http://schemas.microsoft.com/office/drawing/2014/main" id="{EF840711-1091-7B42-85FA-05D24E473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202" y="1009153"/>
            <a:ext cx="1652383" cy="165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74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BCECEA-A294-574E-EBCD-E008427B82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32" y="459065"/>
            <a:ext cx="7055318" cy="657744"/>
          </a:xfrm>
        </p:spPr>
        <p:txBody>
          <a:bodyPr/>
          <a:lstStyle/>
          <a:p>
            <a:r>
              <a:rPr lang="en-US" sz="2800" dirty="0"/>
              <a:t>Research relevance</a:t>
            </a:r>
            <a:endParaRPr lang="ru-RU" sz="2800" dirty="0"/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1C731955-96C5-BE0D-D250-B2D07EF2D060}"/>
              </a:ext>
            </a:extLst>
          </p:cNvPr>
          <p:cNvSpPr txBox="1">
            <a:spLocks/>
          </p:cNvSpPr>
          <p:nvPr/>
        </p:nvSpPr>
        <p:spPr>
          <a:xfrm>
            <a:off x="496932" y="4608739"/>
            <a:ext cx="5747262" cy="143865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1A468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" sz="2000" dirty="0">
                <a:solidFill>
                  <a:schemeClr val="bg1"/>
                </a:solidFill>
              </a:rPr>
              <a:t>The Kessler syndrome is a theoretical scenario describing the evolution of events in near-Earth orbit, in which space debris generated by numerous artificial satellite launches leads to the complete unsuitability of near-Earth space for practical use.</a:t>
            </a: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12" name="Объект 5">
            <a:extLst>
              <a:ext uri="{FF2B5EF4-FFF2-40B4-BE49-F238E27FC236}">
                <a16:creationId xmlns:a16="http://schemas.microsoft.com/office/drawing/2014/main" id="{B4C88A1A-986B-B0CA-ADE0-10E63F6AD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5000"/>
                    </a14:imgEffect>
                    <a14:imgEffect>
                      <a14:saturation sat="161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41126" y="1291024"/>
            <a:ext cx="5206037" cy="3862827"/>
          </a:xfrm>
          <a:prstGeom prst="rect">
            <a:avLst/>
          </a:prstGeom>
        </p:spPr>
      </p:pic>
      <p:sp>
        <p:nvSpPr>
          <p:cNvPr id="14" name="Текст 5">
            <a:extLst>
              <a:ext uri="{FF2B5EF4-FFF2-40B4-BE49-F238E27FC236}">
                <a16:creationId xmlns:a16="http://schemas.microsoft.com/office/drawing/2014/main" id="{5C3B31A2-AE2D-0045-BC93-D74A972AD07D}"/>
              </a:ext>
            </a:extLst>
          </p:cNvPr>
          <p:cNvSpPr txBox="1">
            <a:spLocks/>
          </p:cNvSpPr>
          <p:nvPr/>
        </p:nvSpPr>
        <p:spPr>
          <a:xfrm>
            <a:off x="8043773" y="5328066"/>
            <a:ext cx="2600742" cy="39159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1A468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</a:rPr>
              <a:t>Space debris</a:t>
            </a: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28762A-C1CF-503A-0066-FB7F8D088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37" y="1291024"/>
            <a:ext cx="6354133" cy="31770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8068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608688-922D-0B82-62EA-1CA69F7BC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1E3264-F3E3-C99C-E9F1-BA9FB7E556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8543950E-D143-FE6D-4804-AF66E249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446402"/>
            <a:ext cx="7055318" cy="657744"/>
          </a:xfrm>
        </p:spPr>
        <p:txBody>
          <a:bodyPr/>
          <a:lstStyle/>
          <a:p>
            <a:r>
              <a:rPr lang="en-US" sz="2800" dirty="0"/>
              <a:t>Purpose and tasks</a:t>
            </a:r>
            <a:endParaRPr lang="ru-RU" sz="2800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45CEB370-13B7-E8F2-F756-7505463AD87E}"/>
              </a:ext>
            </a:extLst>
          </p:cNvPr>
          <p:cNvSpPr txBox="1">
            <a:spLocks/>
          </p:cNvSpPr>
          <p:nvPr/>
        </p:nvSpPr>
        <p:spPr>
          <a:xfrm>
            <a:off x="838199" y="1253331"/>
            <a:ext cx="10555705" cy="46180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Roboto Condensed (Основной текст)"/>
              </a:rPr>
              <a:t>Purpose</a:t>
            </a:r>
            <a:r>
              <a:rPr lang="ru-RU" dirty="0">
                <a:solidFill>
                  <a:schemeClr val="bg1"/>
                </a:solidFill>
                <a:latin typeface="Roboto Condensed (Основной текст)"/>
              </a:rPr>
              <a:t>:</a:t>
            </a:r>
            <a:r>
              <a:rPr lang="en-US" dirty="0">
                <a:solidFill>
                  <a:schemeClr val="bg1"/>
                </a:solidFill>
                <a:latin typeface="Roboto Condensed (Основной текст)"/>
              </a:rPr>
              <a:t> </a:t>
            </a:r>
            <a:r>
              <a:rPr lang="en" dirty="0">
                <a:solidFill>
                  <a:schemeClr val="bg1"/>
                </a:solidFill>
                <a:latin typeface="Roboto Condensed (Основной текст)"/>
              </a:rPr>
              <a:t>develop an autonomous system for space debris mitigation based on an inter-satellite network.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latin typeface="Roboto Condensed (Основной текст)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  <a:latin typeface="Roboto Condensed (Основной текст)"/>
              </a:rPr>
              <a:t>Tasks</a:t>
            </a:r>
            <a:r>
              <a:rPr lang="ru-RU" dirty="0">
                <a:solidFill>
                  <a:schemeClr val="bg1"/>
                </a:solidFill>
                <a:latin typeface="Roboto Condensed (Основной текст)"/>
              </a:rPr>
              <a:t>: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en" dirty="0">
                <a:solidFill>
                  <a:schemeClr val="bg1"/>
                </a:solidFill>
                <a:latin typeface="Roboto Condensed (Основной текст)"/>
              </a:rPr>
              <a:t>To analyze existing solutions and define the requirements for a new protection system.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en" dirty="0">
                <a:solidFill>
                  <a:schemeClr val="bg1"/>
                </a:solidFill>
                <a:latin typeface="Roboto Condensed (Основной текст)"/>
              </a:rPr>
              <a:t>To identify the optimal approach for space debris mitigation.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en" dirty="0">
                <a:solidFill>
                  <a:schemeClr val="bg1"/>
                </a:solidFill>
                <a:latin typeface="Roboto Condensed (Основной текст)"/>
              </a:rPr>
              <a:t>To justify the network topology and select a suitable communication technology.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en" dirty="0">
                <a:solidFill>
                  <a:schemeClr val="bg1"/>
                </a:solidFill>
                <a:latin typeface="Roboto Condensed (Основной текст)"/>
              </a:rPr>
              <a:t>To simulate network operation under various scenarios.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endParaRPr lang="en-US" dirty="0">
              <a:solidFill>
                <a:schemeClr val="bg1"/>
              </a:solidFill>
              <a:latin typeface="Roboto Condensed (Основной текст)"/>
            </a:endParaRPr>
          </a:p>
          <a:p>
            <a:pPr marL="457200" indent="-457200">
              <a:buFont typeface="Arial" panose="020B0604020202020204" pitchFamily="34" charset="0"/>
              <a:buAutoNum type="arabicParenR"/>
            </a:pPr>
            <a:endParaRPr lang="en-US" dirty="0">
              <a:solidFill>
                <a:schemeClr val="bg1"/>
              </a:solidFill>
              <a:latin typeface="Roboto Condensed (Основной текст)"/>
            </a:endParaRPr>
          </a:p>
          <a:p>
            <a:pPr marL="457200" indent="-457200">
              <a:buFont typeface="Arial" panose="020B0604020202020204" pitchFamily="34" charset="0"/>
              <a:buAutoNum type="arabicParenR"/>
            </a:pPr>
            <a:endParaRPr lang="en-US" dirty="0">
              <a:solidFill>
                <a:schemeClr val="bg1"/>
              </a:solidFill>
              <a:latin typeface="Roboto Condensed (Основной текст)"/>
            </a:endParaRPr>
          </a:p>
          <a:p>
            <a:pPr marL="457200" indent="-457200">
              <a:buFont typeface="Arial" panose="020B0604020202020204" pitchFamily="34" charset="0"/>
              <a:buAutoNum type="arabicParenR"/>
            </a:pPr>
            <a:endParaRPr lang="en-US" dirty="0">
              <a:solidFill>
                <a:schemeClr val="bg1"/>
              </a:solidFill>
              <a:latin typeface="Roboto Condensed (Основной текст)"/>
            </a:endParaRPr>
          </a:p>
          <a:p>
            <a:pPr marL="457200" indent="-457200">
              <a:buFont typeface="Arial" panose="020B0604020202020204" pitchFamily="34" charset="0"/>
              <a:buAutoNum type="arabicParenR"/>
            </a:pPr>
            <a:endParaRPr lang="ru-RU" dirty="0">
              <a:solidFill>
                <a:schemeClr val="bg1"/>
              </a:solidFill>
              <a:latin typeface="Roboto Condensed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3014386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616B2FF-7710-6DA9-9B3E-F831DE690B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565" y="544583"/>
            <a:ext cx="2172636" cy="657744"/>
          </a:xfrm>
        </p:spPr>
        <p:txBody>
          <a:bodyPr/>
          <a:lstStyle/>
          <a:p>
            <a:r>
              <a:rPr lang="en-US" sz="2800" dirty="0"/>
              <a:t>Concept</a:t>
            </a:r>
            <a:endParaRPr lang="ru-RU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5E28BB-DCD7-01BC-D7B5-147E9423F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20" t="5769" r="11671" b="12521"/>
          <a:stretch>
            <a:fillRect/>
          </a:stretch>
        </p:blipFill>
        <p:spPr bwMode="auto">
          <a:xfrm>
            <a:off x="1774216" y="1115292"/>
            <a:ext cx="2802483" cy="28577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 5">
            <a:extLst>
              <a:ext uri="{FF2B5EF4-FFF2-40B4-BE49-F238E27FC236}">
                <a16:creationId xmlns:a16="http://schemas.microsoft.com/office/drawing/2014/main" id="{A6883636-E2E7-7FB1-9ED0-09697DB871F4}"/>
              </a:ext>
            </a:extLst>
          </p:cNvPr>
          <p:cNvSpPr txBox="1">
            <a:spLocks/>
          </p:cNvSpPr>
          <p:nvPr/>
        </p:nvSpPr>
        <p:spPr>
          <a:xfrm>
            <a:off x="1021706" y="4101488"/>
            <a:ext cx="4307501" cy="25548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Functional diagram of the system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2000" dirty="0">
                <a:solidFill>
                  <a:schemeClr val="bg1"/>
                </a:solidFill>
              </a:rPr>
              <a:t>1 – </a:t>
            </a:r>
            <a:r>
              <a:rPr lang="en-US" sz="2000" dirty="0">
                <a:solidFill>
                  <a:schemeClr val="bg1"/>
                </a:solidFill>
              </a:rPr>
              <a:t>Satellite with onboard radar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2000" dirty="0">
                <a:solidFill>
                  <a:schemeClr val="bg1"/>
                </a:solidFill>
              </a:rPr>
              <a:t>2 – </a:t>
            </a:r>
            <a:r>
              <a:rPr lang="en-US" sz="2000" dirty="0">
                <a:solidFill>
                  <a:schemeClr val="bg1"/>
                </a:solidFill>
              </a:rPr>
              <a:t>Space debris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2000" dirty="0">
                <a:solidFill>
                  <a:schemeClr val="bg1"/>
                </a:solidFill>
              </a:rPr>
              <a:t>3 – </a:t>
            </a:r>
            <a:r>
              <a:rPr lang="en-US" sz="2000" dirty="0">
                <a:solidFill>
                  <a:schemeClr val="bg1"/>
                </a:solidFill>
              </a:rPr>
              <a:t>CubeSat connected to a mesh network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2000" dirty="0">
                <a:solidFill>
                  <a:schemeClr val="bg1"/>
                </a:solidFill>
              </a:rPr>
              <a:t>4 – </a:t>
            </a:r>
            <a:r>
              <a:rPr lang="en-US" sz="2000" dirty="0">
                <a:solidFill>
                  <a:schemeClr val="bg1"/>
                </a:solidFill>
              </a:rPr>
              <a:t>Endangered satellite 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3B5CCB-F70D-17FD-3EEF-D3F19E0DCD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32" t="8145" r="27750" b="10179"/>
          <a:stretch>
            <a:fillRect/>
          </a:stretch>
        </p:blipFill>
        <p:spPr>
          <a:xfrm>
            <a:off x="6874224" y="544583"/>
            <a:ext cx="4284627" cy="41654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7B8A479E-1DE2-BCFF-92C8-51040CF70A2A}"/>
              </a:ext>
            </a:extLst>
          </p:cNvPr>
          <p:cNvSpPr txBox="1">
            <a:spLocks/>
          </p:cNvSpPr>
          <p:nvPr/>
        </p:nvSpPr>
        <p:spPr>
          <a:xfrm>
            <a:off x="7124322" y="4710082"/>
            <a:ext cx="3784432" cy="19815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Visualization of simulation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”Purple” path is optimal for pair of nodes with biggest distance</a:t>
            </a:r>
            <a:r>
              <a:rPr lang="ru-RU" sz="2000" dirty="0">
                <a:solidFill>
                  <a:schemeClr val="bg1"/>
                </a:solidFill>
              </a:rPr>
              <a:t>.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“Red” path has the worst time delay between any of satellites in the network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19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F42C58-524C-7C72-A77A-282D4A3F1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F3E1A36-2ADB-48AD-CE0D-80451ACC465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A2B795-B8D9-0C39-96B0-80AB45533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56" b="92099" l="4916" r="93856">
                        <a14:foregroundMark x1="14747" y1="65432" x2="10906" y2="75926"/>
                        <a14:foregroundMark x1="13057" y1="65185" x2="14132" y2="77160"/>
                        <a14:foregroundMark x1="4916" y1="61481" x2="8295" y2="84074"/>
                        <a14:foregroundMark x1="75422" y1="7407" x2="79724" y2="6173"/>
                        <a14:foregroundMark x1="80184" y1="5556" x2="83410" y2="9506"/>
                        <a14:foregroundMark x1="82796" y1="11605" x2="82335" y2="13580"/>
                        <a14:foregroundMark x1="5376" y1="90123" x2="74347" y2="90988"/>
                        <a14:foregroundMark x1="74347" y1="90988" x2="80338" y2="90741"/>
                        <a14:foregroundMark x1="81874" y1="92099" x2="85714" y2="90370"/>
                        <a14:foregroundMark x1="84793" y1="91852" x2="92934" y2="89136"/>
                        <a14:foregroundMark x1="93548" y1="89753" x2="93856" y2="81605"/>
                        <a14:foregroundMark x1="90476" y1="80494" x2="92320" y2="66914"/>
                        <a14:backgroundMark x1="93856" y1="94198" x2="92473" y2="94198"/>
                        <a14:backgroundMark x1="93395" y1="95432" x2="99078" y2="94938"/>
                        <a14:backgroundMark x1="91551" y1="93951" x2="97389" y2="92840"/>
                        <a14:backgroundMark x1="93241" y1="93086" x2="99539" y2="90741"/>
                        <a14:backgroundMark x1="95084" y1="91605" x2="95084" y2="91605"/>
                        <a14:backgroundMark x1="95084" y1="91605" x2="95699" y2="91358"/>
                        <a14:backgroundMark x1="96160" y1="90988" x2="96160" y2="90988"/>
                        <a14:backgroundMark x1="96313" y1="90988" x2="96774" y2="96173"/>
                        <a14:backgroundMark x1="97389" y1="92469" x2="95699" y2="9481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82809" y="189160"/>
            <a:ext cx="2840206" cy="2866623"/>
          </a:xfrm>
          <a:prstGeom prst="rect">
            <a:avLst/>
          </a:prstGeom>
        </p:spPr>
      </p:pic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F5C4E37B-C665-1C11-D31B-E5002FADA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734515"/>
              </p:ext>
            </p:extLst>
          </p:nvPr>
        </p:nvGraphicFramePr>
        <p:xfrm>
          <a:off x="7365015" y="3699876"/>
          <a:ext cx="4475794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897">
                  <a:extLst>
                    <a:ext uri="{9D8B030D-6E8A-4147-A177-3AD203B41FA5}">
                      <a16:colId xmlns:a16="http://schemas.microsoft.com/office/drawing/2014/main" val="1453330785"/>
                    </a:ext>
                  </a:extLst>
                </a:gridCol>
                <a:gridCol w="2237897">
                  <a:extLst>
                    <a:ext uri="{9D8B030D-6E8A-4147-A177-3AD203B41FA5}">
                      <a16:colId xmlns:a16="http://schemas.microsoft.com/office/drawing/2014/main" val="3698003859"/>
                    </a:ext>
                  </a:extLst>
                </a:gridCol>
              </a:tblGrid>
              <a:tr h="17209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Specification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+mn-lt"/>
                        </a:rPr>
                        <a:t>discription</a:t>
                      </a:r>
                      <a:endParaRPr lang="ru-RU" sz="20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027851"/>
                  </a:ext>
                </a:extLst>
              </a:tr>
              <a:tr h="17209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Chip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+mn-lt"/>
                        </a:rPr>
                        <a:t>SX1276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9030916"/>
                  </a:ext>
                </a:extLst>
              </a:tr>
              <a:tr h="17209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Carrier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+mn-lt"/>
                        </a:rPr>
                        <a:t>868/915 </a:t>
                      </a:r>
                      <a:r>
                        <a:rPr lang="en-US" sz="2000" b="0" dirty="0">
                          <a:latin typeface="+mn-lt"/>
                        </a:rPr>
                        <a:t>MHz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580911"/>
                  </a:ext>
                </a:extLst>
              </a:tr>
              <a:tr h="17209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Maximal power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+mn-lt"/>
                        </a:rPr>
                        <a:t>+20 </a:t>
                      </a:r>
                      <a:r>
                        <a:rPr lang="en-US" sz="2000" b="0" dirty="0">
                          <a:latin typeface="+mn-lt"/>
                        </a:rPr>
                        <a:t>dBm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870838"/>
                  </a:ext>
                </a:extLst>
              </a:tr>
              <a:tr h="51627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Sensitivity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+mn-lt"/>
                        </a:rPr>
                        <a:t>-136 </a:t>
                      </a:r>
                      <a:r>
                        <a:rPr lang="en-US" sz="2000" b="0" dirty="0">
                          <a:latin typeface="+mn-lt"/>
                        </a:rPr>
                        <a:t>dBm</a:t>
                      </a:r>
                      <a:r>
                        <a:rPr lang="ru-RU" sz="2000" b="0" dirty="0">
                          <a:latin typeface="+mn-lt"/>
                        </a:rPr>
                        <a:t> (125 </a:t>
                      </a:r>
                      <a:r>
                        <a:rPr lang="en-US" sz="2000" b="0" dirty="0">
                          <a:latin typeface="+mn-lt"/>
                        </a:rPr>
                        <a:t>kHz</a:t>
                      </a:r>
                      <a:r>
                        <a:rPr lang="ru-RU" sz="2000" b="0" dirty="0">
                          <a:latin typeface="+mn-lt"/>
                        </a:rPr>
                        <a:t>, </a:t>
                      </a:r>
                      <a:r>
                        <a:rPr lang="en-US" sz="2000" b="0" dirty="0">
                          <a:latin typeface="+mn-lt"/>
                        </a:rPr>
                        <a:t>SF=12, 293 bps</a:t>
                      </a:r>
                      <a:r>
                        <a:rPr lang="ru-RU" sz="2000" b="0" dirty="0">
                          <a:latin typeface="+mn-lt"/>
                        </a:rPr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67250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Data rate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from</a:t>
                      </a:r>
                      <a:r>
                        <a:rPr lang="ru-RU" sz="2000" b="0" dirty="0">
                          <a:latin typeface="+mn-lt"/>
                        </a:rPr>
                        <a:t> 0.018 </a:t>
                      </a:r>
                      <a:r>
                        <a:rPr lang="en-US" sz="2000" b="0" dirty="0">
                          <a:latin typeface="+mn-lt"/>
                        </a:rPr>
                        <a:t>to</a:t>
                      </a:r>
                      <a:r>
                        <a:rPr lang="ru-RU" sz="2000" b="0" dirty="0">
                          <a:latin typeface="+mn-lt"/>
                        </a:rPr>
                        <a:t> 37,5 </a:t>
                      </a:r>
                      <a:r>
                        <a:rPr lang="en-US" sz="2000" b="0" dirty="0">
                          <a:latin typeface="+mn-lt"/>
                        </a:rPr>
                        <a:t>kbps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044600"/>
                  </a:ext>
                </a:extLst>
              </a:tr>
            </a:tbl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C9B8434-9A35-AE36-1953-3E46206416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0113" t="13926" r="9908" b="4865"/>
          <a:stretch>
            <a:fillRect/>
          </a:stretch>
        </p:blipFill>
        <p:spPr>
          <a:xfrm>
            <a:off x="640703" y="1444128"/>
            <a:ext cx="6123168" cy="3374888"/>
          </a:xfrm>
          <a:prstGeom prst="rect">
            <a:avLst/>
          </a:prstGeom>
          <a:effectLst>
            <a:glow rad="38100">
              <a:schemeClr val="bg1"/>
            </a:glow>
          </a:effectLst>
        </p:spPr>
      </p:pic>
      <p:sp>
        <p:nvSpPr>
          <p:cNvPr id="13" name="Объект 2">
            <a:extLst>
              <a:ext uri="{FF2B5EF4-FFF2-40B4-BE49-F238E27FC236}">
                <a16:creationId xmlns:a16="http://schemas.microsoft.com/office/drawing/2014/main" id="{68672284-7052-F528-9EA2-CD2FF55FF5E3}"/>
              </a:ext>
            </a:extLst>
          </p:cNvPr>
          <p:cNvSpPr txBox="1">
            <a:spLocks/>
          </p:cNvSpPr>
          <p:nvPr/>
        </p:nvSpPr>
        <p:spPr>
          <a:xfrm>
            <a:off x="1265543" y="4699258"/>
            <a:ext cx="4873487" cy="4001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Mesh topology</a:t>
            </a:r>
            <a:endParaRPr lang="ru-RU" sz="2000" b="1" dirty="0">
              <a:solidFill>
                <a:schemeClr val="bg1"/>
              </a:solidFill>
              <a:latin typeface="Roboto Condensed (Основной текст)"/>
            </a:endParaRP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1B168A89-CDF5-C4A8-BC4F-8E96AC062F70}"/>
              </a:ext>
            </a:extLst>
          </p:cNvPr>
          <p:cNvSpPr txBox="1">
            <a:spLocks/>
          </p:cNvSpPr>
          <p:nvPr/>
        </p:nvSpPr>
        <p:spPr>
          <a:xfrm>
            <a:off x="9009027" y="2901779"/>
            <a:ext cx="2840206" cy="4001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ru-RU" sz="1800" dirty="0">
              <a:solidFill>
                <a:schemeClr val="bg1"/>
              </a:solidFill>
              <a:latin typeface="Roboto Condensed (Основной текст)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606BCFF-BE0D-3B23-26F4-CDF25B6C2EC6}"/>
              </a:ext>
            </a:extLst>
          </p:cNvPr>
          <p:cNvSpPr txBox="1">
            <a:spLocks/>
          </p:cNvSpPr>
          <p:nvPr/>
        </p:nvSpPr>
        <p:spPr>
          <a:xfrm>
            <a:off x="7365015" y="2979842"/>
            <a:ext cx="4475794" cy="6440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Table</a:t>
            </a:r>
            <a:r>
              <a:rPr lang="ru-RU" sz="2000" b="1" dirty="0">
                <a:solidFill>
                  <a:schemeClr val="bg1"/>
                </a:solidFill>
                <a:latin typeface="Roboto Condensed (Основной текст)"/>
              </a:rPr>
              <a:t> 1. </a:t>
            </a: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Specifications</a:t>
            </a:r>
            <a:r>
              <a:rPr lang="ru-RU" sz="2000" b="1" dirty="0">
                <a:solidFill>
                  <a:schemeClr val="bg1"/>
                </a:solidFill>
                <a:latin typeface="Roboto Condensed (Основной текст)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of</a:t>
            </a:r>
            <a:r>
              <a:rPr lang="ru-RU" sz="2000" b="1" dirty="0">
                <a:solidFill>
                  <a:schemeClr val="bg1"/>
                </a:solidFill>
                <a:latin typeface="Roboto Condensed (Основной текст)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Roboto Condensed (Основной текст)"/>
              </a:rPr>
              <a:t>ttgo</a:t>
            </a: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 LoRa 32 platform</a:t>
            </a:r>
            <a:endParaRPr lang="ru-RU" sz="2000" b="1" dirty="0">
              <a:solidFill>
                <a:schemeClr val="bg1"/>
              </a:solidFill>
              <a:latin typeface="Roboto Condensed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3113740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3B1BE7-2A68-B34E-A5CF-8A3FB3A5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CE92B-B799-3A82-A4BA-05920F7BA8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776230-2CE6-05A6-2CB5-356EF22331F6}"/>
              </a:ext>
            </a:extLst>
          </p:cNvPr>
          <p:cNvSpPr txBox="1"/>
          <p:nvPr/>
        </p:nvSpPr>
        <p:spPr>
          <a:xfrm>
            <a:off x="538715" y="592609"/>
            <a:ext cx="6093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ru-RU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6B4E9B-D7EF-F82C-C953-B20CD6294A1C}"/>
                  </a:ext>
                </a:extLst>
              </p:cNvPr>
              <p:cNvSpPr txBox="1"/>
              <p:nvPr/>
            </p:nvSpPr>
            <p:spPr>
              <a:xfrm>
                <a:off x="756995" y="1593404"/>
                <a:ext cx="4246612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b="0" dirty="0">
                    <a:solidFill>
                      <a:schemeClr val="bg1"/>
                    </a:solidFill>
                  </a:rPr>
                  <a:t>BER </a:t>
                </a:r>
                <a14:m>
                  <m:oMath xmlns:m="http://schemas.openxmlformats.org/officeDocument/2006/math">
                    <m:r>
                      <a:rPr lang="ru-RU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exp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𝑆𝑁𝑅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𝑟𝑒𝑎𝑙</m:t>
                                </m:r>
                              </m:sub>
                            </m:sSub>
                            <m:r>
                              <a:rPr lang="ru-RU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𝑆𝑁𝑅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𝑡𝑟𝑒𝑠h𝑜𝑙𝑑</m:t>
                                </m:r>
                              </m:sub>
                            </m:sSub>
                            <m:r>
                              <a:rPr lang="ru-RU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</m:d>
                  </m:oMath>
                </a14:m>
                <a:endParaRPr lang="ru-RU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6B4E9B-D7EF-F82C-C953-B20CD6294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95" y="1593404"/>
                <a:ext cx="4246612" cy="460639"/>
              </a:xfrm>
              <a:prstGeom prst="rect">
                <a:avLst/>
              </a:prstGeom>
              <a:blipFill>
                <a:blip r:embed="rId3"/>
                <a:stretch>
                  <a:fillRect l="-3571" t="-5405" b="-162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0FD981E3-A036-B8A8-E7AB-B87A1C427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949929"/>
              </p:ext>
            </p:extLst>
          </p:nvPr>
        </p:nvGraphicFramePr>
        <p:xfrm>
          <a:off x="754252" y="3429000"/>
          <a:ext cx="4885824" cy="2993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608">
                  <a:extLst>
                    <a:ext uri="{9D8B030D-6E8A-4147-A177-3AD203B41FA5}">
                      <a16:colId xmlns:a16="http://schemas.microsoft.com/office/drawing/2014/main" val="2334432349"/>
                    </a:ext>
                  </a:extLst>
                </a:gridCol>
                <a:gridCol w="1628608">
                  <a:extLst>
                    <a:ext uri="{9D8B030D-6E8A-4147-A177-3AD203B41FA5}">
                      <a16:colId xmlns:a16="http://schemas.microsoft.com/office/drawing/2014/main" val="3821402710"/>
                    </a:ext>
                  </a:extLst>
                </a:gridCol>
                <a:gridCol w="1628608">
                  <a:extLst>
                    <a:ext uri="{9D8B030D-6E8A-4147-A177-3AD203B41FA5}">
                      <a16:colId xmlns:a16="http://schemas.microsoft.com/office/drawing/2014/main" val="1971979399"/>
                    </a:ext>
                  </a:extLst>
                </a:gridCol>
              </a:tblGrid>
              <a:tr h="371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Parameter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«</a:t>
                      </a:r>
                      <a:r>
                        <a:rPr lang="en-US" sz="2000" u="none" strike="noStrike" dirty="0">
                          <a:effectLst/>
                        </a:rPr>
                        <a:t>Purple</a:t>
                      </a:r>
                      <a:r>
                        <a:rPr lang="ru-RU" sz="2000" u="none" strike="noStrike" dirty="0">
                          <a:effectLst/>
                        </a:rPr>
                        <a:t>» </a:t>
                      </a:r>
                      <a:r>
                        <a:rPr lang="en-US" sz="2000" u="none" strike="noStrike" dirty="0">
                          <a:effectLst/>
                        </a:rPr>
                        <a:t>path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«</a:t>
                      </a:r>
                      <a:r>
                        <a:rPr lang="en-US" sz="2000" u="none" strike="noStrike" dirty="0">
                          <a:effectLst/>
                        </a:rPr>
                        <a:t>red</a:t>
                      </a:r>
                      <a:r>
                        <a:rPr lang="ru-RU" sz="2000" u="none" strike="noStrike" dirty="0">
                          <a:effectLst/>
                        </a:rPr>
                        <a:t>» </a:t>
                      </a:r>
                      <a:r>
                        <a:rPr lang="en-US" sz="2000" u="none" strike="noStrike" dirty="0">
                          <a:effectLst/>
                        </a:rPr>
                        <a:t>path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83726217"/>
                  </a:ext>
                </a:extLst>
              </a:tr>
              <a:tr h="371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Length, km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15256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14548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08967120"/>
                  </a:ext>
                </a:extLst>
              </a:tr>
              <a:tr h="3930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Total packet delivery time</a:t>
                      </a:r>
                      <a:r>
                        <a:rPr lang="ru-RU" sz="2000" u="none" strike="noStrike" dirty="0">
                          <a:effectLst/>
                        </a:rPr>
                        <a:t>, </a:t>
                      </a:r>
                      <a:r>
                        <a:rPr lang="en-US" sz="2000" u="none" strike="noStrike" dirty="0">
                          <a:effectLst/>
                        </a:rPr>
                        <a:t>s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21.430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22.941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7377980"/>
                  </a:ext>
                </a:extLst>
              </a:tr>
              <a:tr h="3930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Time delay</a:t>
                      </a:r>
                      <a:r>
                        <a:rPr lang="ru-RU" sz="2000" u="none" strike="noStrike" dirty="0">
                          <a:effectLst/>
                        </a:rPr>
                        <a:t>, </a:t>
                      </a:r>
                      <a:r>
                        <a:rPr lang="en-US" sz="2000" u="none" strike="noStrike" dirty="0">
                          <a:effectLst/>
                        </a:rPr>
                        <a:t>s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0.080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0.08</a:t>
                      </a:r>
                      <a:r>
                        <a:rPr lang="ru-RU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8826443"/>
                  </a:ext>
                </a:extLst>
              </a:tr>
              <a:tr h="3930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Average SNR</a:t>
                      </a:r>
                      <a:r>
                        <a:rPr lang="ru-RU" sz="2000" u="none" strike="noStrike" dirty="0">
                          <a:effectLst/>
                        </a:rPr>
                        <a:t>, </a:t>
                      </a:r>
                      <a:r>
                        <a:rPr lang="en-US" sz="2000" u="none" strike="noStrike" dirty="0">
                          <a:effectLst/>
                        </a:rPr>
                        <a:t>dB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-14.53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-14.22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81434795"/>
                  </a:ext>
                </a:extLst>
              </a:tr>
              <a:tr h="3930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Relative data rate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11.20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10.46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24324952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0C6BA06B-73C3-E9D1-3884-5B5C57804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230477"/>
              </p:ext>
            </p:extLst>
          </p:nvPr>
        </p:nvGraphicFramePr>
        <p:xfrm>
          <a:off x="7170658" y="803708"/>
          <a:ext cx="4064002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1">
                  <a:extLst>
                    <a:ext uri="{9D8B030D-6E8A-4147-A177-3AD203B41FA5}">
                      <a16:colId xmlns:a16="http://schemas.microsoft.com/office/drawing/2014/main" val="3243658355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1471839391"/>
                    </a:ext>
                  </a:extLst>
                </a:gridCol>
              </a:tblGrid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Channel</a:t>
                      </a:r>
                      <a:endParaRPr lang="ru-RU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BER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555075"/>
                  </a:ext>
                </a:extLst>
              </a:tr>
              <a:tr h="24648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30 - 31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6.8143e-02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443739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31 –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6.7670e-05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445377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11 –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2.8415e-02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180861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12 – 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2.8415e-02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365895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13 – 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2.8415e-02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9951354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14 – 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2.1785e-04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129138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35 – 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6.8143e-02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086180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36 – 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6.7670e-05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163436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16 – 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2.8415e-02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451752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17 – 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2.1785e-04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2698721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38 - 18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6.7670e-05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42823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18 – 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2.1785e-04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6002567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39 – 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6.7670e-05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817598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19 - 40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2.1785e-04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400001"/>
                  </a:ext>
                </a:extLst>
              </a:tr>
            </a:tbl>
          </a:graphicData>
        </a:graphic>
      </p:graphicFrame>
      <p:sp>
        <p:nvSpPr>
          <p:cNvPr id="12" name="Объект 2">
            <a:extLst>
              <a:ext uri="{FF2B5EF4-FFF2-40B4-BE49-F238E27FC236}">
                <a16:creationId xmlns:a16="http://schemas.microsoft.com/office/drawing/2014/main" id="{B2016EAD-5C46-74EC-7B77-13E9231D053F}"/>
              </a:ext>
            </a:extLst>
          </p:cNvPr>
          <p:cNvSpPr txBox="1">
            <a:spLocks/>
          </p:cNvSpPr>
          <p:nvPr/>
        </p:nvSpPr>
        <p:spPr>
          <a:xfrm>
            <a:off x="754252" y="2712862"/>
            <a:ext cx="4873487" cy="8452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Table</a:t>
            </a:r>
            <a:r>
              <a:rPr lang="ru-RU" sz="2000" b="1" dirty="0">
                <a:solidFill>
                  <a:schemeClr val="bg1"/>
                </a:solidFill>
                <a:latin typeface="Roboto Condensed (Основной текст)"/>
              </a:rPr>
              <a:t> 2. </a:t>
            </a:r>
            <a:r>
              <a:rPr lang="en" sz="2000" b="1" dirty="0">
                <a:solidFill>
                  <a:schemeClr val="bg1"/>
                </a:solidFill>
                <a:latin typeface="Roboto Condensed (Основной текст)"/>
              </a:rPr>
              <a:t>Comparison of qualitative data transmission characteristics for two routes</a:t>
            </a:r>
            <a:endParaRPr lang="ru-RU" sz="2000" b="1" dirty="0">
              <a:solidFill>
                <a:schemeClr val="bg1"/>
              </a:solidFill>
              <a:latin typeface="Roboto Condensed (Основной текст)"/>
            </a:endParaRP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F31E7DB9-80F5-39DC-2E1A-CD0835A2D1CF}"/>
              </a:ext>
            </a:extLst>
          </p:cNvPr>
          <p:cNvSpPr txBox="1">
            <a:spLocks/>
          </p:cNvSpPr>
          <p:nvPr/>
        </p:nvSpPr>
        <p:spPr>
          <a:xfrm>
            <a:off x="7170658" y="110692"/>
            <a:ext cx="4873487" cy="5987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Table</a:t>
            </a:r>
            <a:r>
              <a:rPr lang="ru-RU" sz="2000" b="1" dirty="0">
                <a:solidFill>
                  <a:schemeClr val="bg1"/>
                </a:solidFill>
                <a:latin typeface="Roboto Condensed (Основной текст)"/>
              </a:rPr>
              <a:t> 3. </a:t>
            </a: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intersatellite channels BER calculation</a:t>
            </a:r>
            <a:endParaRPr lang="ru-RU" sz="2000" b="1" dirty="0">
              <a:solidFill>
                <a:schemeClr val="bg1"/>
              </a:solidFill>
              <a:latin typeface="Roboto Condensed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648110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D74E75-7222-4237-A077-32D7FB34AE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75" y="512255"/>
            <a:ext cx="7055318" cy="657744"/>
          </a:xfrm>
        </p:spPr>
        <p:txBody>
          <a:bodyPr/>
          <a:lstStyle/>
          <a:p>
            <a:r>
              <a:rPr lang="en-US" sz="2800" dirty="0"/>
              <a:t>Conclusion</a:t>
            </a:r>
            <a:endParaRPr lang="ru-RU" sz="2800" dirty="0"/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3E2FD408-C70A-0A1D-EAD0-FAB815421F84}"/>
              </a:ext>
            </a:extLst>
          </p:cNvPr>
          <p:cNvSpPr txBox="1">
            <a:spLocks/>
          </p:cNvSpPr>
          <p:nvPr/>
        </p:nvSpPr>
        <p:spPr>
          <a:xfrm>
            <a:off x="472675" y="1682254"/>
            <a:ext cx="10557740" cy="44984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dirty="0">
                <a:solidFill>
                  <a:schemeClr val="bg1"/>
                </a:solidFill>
              </a:rPr>
              <a:t>An analysis of existing space debris </a:t>
            </a:r>
            <a:r>
              <a:rPr lang="en-US" dirty="0">
                <a:solidFill>
                  <a:schemeClr val="bg1"/>
                </a:solidFill>
              </a:rPr>
              <a:t>evasion</a:t>
            </a:r>
            <a:r>
              <a:rPr lang="en" dirty="0">
                <a:solidFill>
                  <a:schemeClr val="bg1"/>
                </a:solidFill>
              </a:rPr>
              <a:t> systems was conducted, and their disadvantages were identified. 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" dirty="0">
                <a:solidFill>
                  <a:schemeClr val="bg1"/>
                </a:solidFill>
              </a:rPr>
              <a:t>An optimal protection method for the proposed system was selected.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" dirty="0">
                <a:solidFill>
                  <a:schemeClr val="bg1"/>
                </a:solidFill>
              </a:rPr>
              <a:t>A model for evaluating the performance of an inter-satellite data transmission network was developed.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" dirty="0">
                <a:solidFill>
                  <a:schemeClr val="bg1"/>
                </a:solidFill>
              </a:rPr>
              <a:t>The simulation results indicate that this solution can be used for transmitting small volumes of service data.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" dirty="0">
                <a:solidFill>
                  <a:schemeClr val="bg1"/>
                </a:solidFill>
              </a:rPr>
              <a:t>Further directions for the development of the proposed system were defined.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1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F5611E-BBC4-4799-E279-7E7054579F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Текст 16">
            <a:extLst>
              <a:ext uri="{FF2B5EF4-FFF2-40B4-BE49-F238E27FC236}">
                <a16:creationId xmlns:a16="http://schemas.microsoft.com/office/drawing/2014/main" id="{9472852A-76F7-4C94-9F3E-38A9FA4D3A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Thanks for your attention</a:t>
            </a:r>
            <a:endParaRPr lang="ru-RU" dirty="0"/>
          </a:p>
        </p:txBody>
      </p:sp>
      <p:sp>
        <p:nvSpPr>
          <p:cNvPr id="15" name="Текст 11">
            <a:extLst>
              <a:ext uri="{FF2B5EF4-FFF2-40B4-BE49-F238E27FC236}">
                <a16:creationId xmlns:a16="http://schemas.microsoft.com/office/drawing/2014/main" id="{2CC40169-E529-EA05-C33F-498C11D6B943}"/>
              </a:ext>
            </a:extLst>
          </p:cNvPr>
          <p:cNvSpPr txBox="1">
            <a:spLocks/>
          </p:cNvSpPr>
          <p:nvPr/>
        </p:nvSpPr>
        <p:spPr>
          <a:xfrm>
            <a:off x="669290" y="1886351"/>
            <a:ext cx="6413152" cy="1865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sz="3200" dirty="0">
                <a:solidFill>
                  <a:schemeClr val="bg1"/>
                </a:solidFill>
                <a:latin typeface="Bahnschrift" panose="020B0502040204020203" pitchFamily="34" charset="0"/>
              </a:rPr>
              <a:t>Development of an inter-satellite network for space debris evasion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0295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вик">
      <a:dk1>
        <a:srgbClr val="1A468D"/>
      </a:dk1>
      <a:lt1>
        <a:srgbClr val="FFFFFF"/>
      </a:lt1>
      <a:dk2>
        <a:srgbClr val="1A468D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ВИК_Робото-конд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8353</TotalTime>
  <Words>446</Words>
  <Application>Microsoft Macintosh PowerPoint</Application>
  <PresentationFormat>Широкоэкранный</PresentationFormat>
  <Paragraphs>100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Roboto Condensed (Основной текст)</vt:lpstr>
      <vt:lpstr>Bahnschrift</vt:lpstr>
      <vt:lpstr>Arial</vt:lpstr>
      <vt:lpstr>Century Gothic</vt:lpstr>
      <vt:lpstr>Calibri</vt:lpstr>
      <vt:lpstr>Cambria Math</vt:lpstr>
      <vt:lpstr>Тема Office</vt:lpstr>
      <vt:lpstr>Презентация PowerPoint</vt:lpstr>
      <vt:lpstr>Research relevance</vt:lpstr>
      <vt:lpstr>Purpose and tasks</vt:lpstr>
      <vt:lpstr>Concept</vt:lpstr>
      <vt:lpstr>Презентация PowerPoint</vt:lpstr>
      <vt:lpstr>Презентация PowerPoint</vt:lpstr>
      <vt:lpstr>Conclusion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Александр Попов</cp:lastModifiedBy>
  <cp:revision>173</cp:revision>
  <dcterms:created xsi:type="dcterms:W3CDTF">2021-10-15T21:48:49Z</dcterms:created>
  <dcterms:modified xsi:type="dcterms:W3CDTF">2026-02-03T10:35:39Z</dcterms:modified>
</cp:coreProperties>
</file>